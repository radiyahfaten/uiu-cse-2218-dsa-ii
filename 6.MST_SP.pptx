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2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85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4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9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3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4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6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1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4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00333-F889-4528-9D9A-B74200E6E55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B5B27-8F98-4F28-AD76-8072B64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1461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Lucida Sans Typewriter" pitchFamily="49" charset="0"/>
              </a:rPr>
              <a:t>Minimum Spanning Tree</a:t>
            </a:r>
            <a:br>
              <a:rPr lang="en-US" dirty="0" smtClean="0">
                <a:latin typeface="Lucida Sans Typewriter" pitchFamily="49" charset="0"/>
              </a:rPr>
            </a:br>
            <a:r>
              <a:rPr lang="en-US" dirty="0" smtClean="0">
                <a:latin typeface="Lucida Sans Typewriter" pitchFamily="49" charset="0"/>
              </a:rPr>
              <a:t>Shortest Path Problems</a:t>
            </a:r>
            <a:br>
              <a:rPr lang="en-US" dirty="0" smtClean="0">
                <a:latin typeface="Lucida Sans Typewriter" pitchFamily="49" charset="0"/>
              </a:rPr>
            </a:br>
            <a:endParaRPr lang="en-US" dirty="0">
              <a:latin typeface="Lucida Sans Typewriter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Lucida Sans Typewriter" pitchFamily="49" charset="0"/>
              </a:rPr>
              <a:t>DSA II Lab</a:t>
            </a:r>
          </a:p>
        </p:txBody>
      </p:sp>
    </p:spTree>
    <p:extLst>
      <p:ext uri="{BB962C8B-B14F-4D97-AF65-F5344CB8AC3E}">
        <p14:creationId xmlns:p14="http://schemas.microsoft.com/office/powerpoint/2010/main" val="54318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8987"/>
            <a:ext cx="7772400" cy="1362075"/>
          </a:xfrm>
        </p:spPr>
        <p:txBody>
          <a:bodyPr/>
          <a:lstStyle/>
          <a:p>
            <a:pPr algn="ctr"/>
            <a:r>
              <a:rPr lang="en-US" dirty="0" smtClean="0">
                <a:latin typeface="Lucida Sans Typewriter" pitchFamily="49" charset="0"/>
              </a:rPr>
              <a:t>Prim’s Algorithm</a:t>
            </a:r>
            <a:endParaRPr lang="en-US" dirty="0">
              <a:latin typeface="Lucida Sans Typewriter" pitchFamily="49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7772400" cy="150018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Lucida Sans Typewriter" pitchFamily="49" charset="0"/>
              </a:rPr>
              <a:t>Minimum Spanning Tree</a:t>
            </a:r>
            <a:endParaRPr lang="en-US" sz="4000" dirty="0">
              <a:latin typeface="Lucida Sans Typewrit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9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9FDED8-5440-4C2E-80E7-6379E6FD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latin typeface="Lucida Sans Typewriter" pitchFamily="49" charset="0"/>
              </a:rPr>
              <a:t>Spanning Tree</a:t>
            </a:r>
            <a:endParaRPr lang="en-US" sz="2400" dirty="0">
              <a:latin typeface="Lucida Sans Typewriter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D22913-F2C5-4B5E-9508-82BFDC236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A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spanning tree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 is a subset of Graph G, which has all the vertices covered with minimum possible number of edges. Hence, a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spanning tree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 does not have cycles and it cannot be disconnected.. By this definition, we can draw a conclusion that every connected and undirected Graph G has at least one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spanning tree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.</a:t>
            </a:r>
          </a:p>
          <a:p>
            <a:endParaRPr lang="en-US" sz="2400" dirty="0">
              <a:solidFill>
                <a:srgbClr val="202124"/>
              </a:solidFill>
              <a:latin typeface="Lucida Sans Typewriter" pitchFamily="49" charset="0"/>
            </a:endParaRPr>
          </a:p>
          <a:p>
            <a:pPr algn="l"/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If there are n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vertices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 in the graph, then each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spanning tree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 has n − 1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edges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>.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  <a:t/>
            </a:r>
            <a:br>
              <a:rPr lang="en-US" sz="2400" b="0" i="0" dirty="0">
                <a:solidFill>
                  <a:srgbClr val="202124"/>
                </a:solidFill>
                <a:effectLst/>
                <a:latin typeface="Lucida Sans Typewriter" pitchFamily="49" charset="0"/>
              </a:rPr>
            </a:br>
            <a:endParaRPr lang="en-US" sz="2400" dirty="0">
              <a:latin typeface="Lucida Sans Typewrit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8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Spanning Tree of a Graph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38200"/>
            <a:ext cx="4248472" cy="5914540"/>
          </a:xfrm>
        </p:spPr>
      </p:pic>
    </p:spTree>
    <p:extLst>
      <p:ext uri="{BB962C8B-B14F-4D97-AF65-F5344CB8AC3E}">
        <p14:creationId xmlns:p14="http://schemas.microsoft.com/office/powerpoint/2010/main" val="136253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Spanning Tree of a Graph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7965"/>
            <a:ext cx="8229600" cy="3352496"/>
          </a:xfrm>
        </p:spPr>
      </p:pic>
    </p:spTree>
    <p:extLst>
      <p:ext uri="{BB962C8B-B14F-4D97-AF65-F5344CB8AC3E}">
        <p14:creationId xmlns:p14="http://schemas.microsoft.com/office/powerpoint/2010/main" val="17012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Minimum Spanning </a:t>
            </a:r>
            <a:r>
              <a:rPr lang="en-US" dirty="0" smtClean="0"/>
              <a:t>Tree of a Graph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374020"/>
            <a:ext cx="7808708" cy="4503252"/>
          </a:xfrm>
        </p:spPr>
      </p:pic>
    </p:spTree>
    <p:extLst>
      <p:ext uri="{BB962C8B-B14F-4D97-AF65-F5344CB8AC3E}">
        <p14:creationId xmlns:p14="http://schemas.microsoft.com/office/powerpoint/2010/main" val="339705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1"/>
            <a:ext cx="8686800" cy="1498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latin typeface="Lucida Sans Typewriter" pitchFamily="49" charset="0"/>
                <a:sym typeface="Symbol" panose="05050102010706020507" pitchFamily="18" charset="2"/>
              </a:rPr>
              <a:t>Problem: </a:t>
            </a:r>
            <a:r>
              <a:rPr lang="en-US" altLang="en-US" sz="2400" dirty="0">
                <a:latin typeface="Lucida Sans Typewriter" pitchFamily="49" charset="0"/>
                <a:sym typeface="Symbol" panose="05050102010706020507" pitchFamily="18" charset="2"/>
              </a:rPr>
              <a:t>given a connected, undirected, weighted graph, find a </a:t>
            </a:r>
            <a:r>
              <a:rPr lang="en-US" altLang="en-US" sz="2400" i="1" dirty="0">
                <a:solidFill>
                  <a:schemeClr val="tx2"/>
                </a:solidFill>
                <a:latin typeface="Lucida Sans Typewriter" pitchFamily="49" charset="0"/>
                <a:sym typeface="Symbol" panose="05050102010706020507" pitchFamily="18" charset="2"/>
              </a:rPr>
              <a:t>spanning tree</a:t>
            </a:r>
            <a:r>
              <a:rPr lang="en-US" altLang="en-US" sz="2400" dirty="0">
                <a:latin typeface="Lucida Sans Typewriter" pitchFamily="49" charset="0"/>
                <a:sym typeface="Symbol" panose="05050102010706020507" pitchFamily="18" charset="2"/>
              </a:rPr>
              <a:t> using edges that </a:t>
            </a:r>
            <a:r>
              <a:rPr lang="en-US" altLang="en-US" sz="2400" dirty="0">
                <a:solidFill>
                  <a:schemeClr val="tx2"/>
                </a:solidFill>
                <a:latin typeface="Lucida Sans Typewriter" pitchFamily="49" charset="0"/>
                <a:sym typeface="Symbol" panose="05050102010706020507" pitchFamily="18" charset="2"/>
              </a:rPr>
              <a:t>minimize</a:t>
            </a:r>
            <a:r>
              <a:rPr lang="en-US" altLang="en-US" sz="2400" dirty="0">
                <a:latin typeface="Lucida Sans Typewriter" pitchFamily="49" charset="0"/>
                <a:sym typeface="Symbol" panose="05050102010706020507" pitchFamily="18" charset="2"/>
              </a:rPr>
              <a:t> the total weight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66850" y="3098800"/>
            <a:ext cx="5829300" cy="2844800"/>
            <a:chOff x="1466850" y="2565400"/>
            <a:chExt cx="6381750" cy="3505200"/>
          </a:xfrm>
        </p:grpSpPr>
        <p:sp>
          <p:nvSpPr>
            <p:cNvPr id="5131" name="Oval 39"/>
            <p:cNvSpPr>
              <a:spLocks noChangeArrowheads="1"/>
            </p:cNvSpPr>
            <p:nvPr/>
          </p:nvSpPr>
          <p:spPr bwMode="auto">
            <a:xfrm>
              <a:off x="3124200" y="2565400"/>
              <a:ext cx="533400" cy="533400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466850" y="2794000"/>
              <a:ext cx="6381750" cy="3276600"/>
              <a:chOff x="1466850" y="2794000"/>
              <a:chExt cx="6381750" cy="3276600"/>
            </a:xfrm>
          </p:grpSpPr>
          <p:sp>
            <p:nvSpPr>
              <p:cNvPr id="5124" name="Oval 32"/>
              <p:cNvSpPr>
                <a:spLocks noChangeArrowheads="1"/>
              </p:cNvSpPr>
              <p:nvPr/>
            </p:nvSpPr>
            <p:spPr bwMode="auto">
              <a:xfrm>
                <a:off x="1600200" y="32512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5" name="Oval 33"/>
              <p:cNvSpPr>
                <a:spLocks noChangeArrowheads="1"/>
              </p:cNvSpPr>
              <p:nvPr/>
            </p:nvSpPr>
            <p:spPr bwMode="auto">
              <a:xfrm>
                <a:off x="4648200" y="32512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6" name="Oval 34"/>
              <p:cNvSpPr>
                <a:spLocks noChangeArrowheads="1"/>
              </p:cNvSpPr>
              <p:nvPr/>
            </p:nvSpPr>
            <p:spPr bwMode="auto">
              <a:xfrm>
                <a:off x="7315200" y="32512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7" name="Oval 35"/>
              <p:cNvSpPr>
                <a:spLocks noChangeArrowheads="1"/>
              </p:cNvSpPr>
              <p:nvPr/>
            </p:nvSpPr>
            <p:spPr bwMode="auto">
              <a:xfrm>
                <a:off x="1600200" y="48514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8" name="Oval 36"/>
              <p:cNvSpPr>
                <a:spLocks noChangeArrowheads="1"/>
              </p:cNvSpPr>
              <p:nvPr/>
            </p:nvSpPr>
            <p:spPr bwMode="auto">
              <a:xfrm>
                <a:off x="4648200" y="48514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9" name="Oval 37"/>
              <p:cNvSpPr>
                <a:spLocks noChangeArrowheads="1"/>
              </p:cNvSpPr>
              <p:nvPr/>
            </p:nvSpPr>
            <p:spPr bwMode="auto">
              <a:xfrm>
                <a:off x="7315200" y="48514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30" name="Oval 38"/>
              <p:cNvSpPr>
                <a:spLocks noChangeArrowheads="1"/>
              </p:cNvSpPr>
              <p:nvPr/>
            </p:nvSpPr>
            <p:spPr bwMode="auto">
              <a:xfrm>
                <a:off x="3124200" y="5537200"/>
                <a:ext cx="533400" cy="53340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CC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5132" name="AutoShape 40"/>
              <p:cNvCxnSpPr>
                <a:cxnSpLocks noChangeShapeType="1"/>
                <a:stCxn id="5131" idx="5"/>
                <a:endCxn id="5125" idx="1"/>
              </p:cNvCxnSpPr>
              <p:nvPr/>
            </p:nvCxnSpPr>
            <p:spPr bwMode="auto">
              <a:xfrm>
                <a:off x="3579813" y="3040063"/>
                <a:ext cx="1146175" cy="269875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3" name="AutoShape 41"/>
              <p:cNvCxnSpPr>
                <a:cxnSpLocks noChangeShapeType="1"/>
                <a:stCxn id="5131" idx="3"/>
                <a:endCxn id="5124" idx="7"/>
              </p:cNvCxnSpPr>
              <p:nvPr/>
            </p:nvCxnSpPr>
            <p:spPr bwMode="auto">
              <a:xfrm flipH="1">
                <a:off x="2055813" y="3040063"/>
                <a:ext cx="1146175" cy="269875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4" name="AutoShape 42"/>
              <p:cNvCxnSpPr>
                <a:cxnSpLocks noChangeShapeType="1"/>
                <a:stCxn id="5124" idx="6"/>
                <a:endCxn id="5125" idx="2"/>
              </p:cNvCxnSpPr>
              <p:nvPr/>
            </p:nvCxnSpPr>
            <p:spPr bwMode="auto">
              <a:xfrm>
                <a:off x="2152650" y="3517900"/>
                <a:ext cx="2476500" cy="0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5" name="AutoShape 43"/>
              <p:cNvCxnSpPr>
                <a:cxnSpLocks noChangeShapeType="1"/>
                <a:stCxn id="5127" idx="0"/>
                <a:endCxn id="5124" idx="4"/>
              </p:cNvCxnSpPr>
              <p:nvPr/>
            </p:nvCxnSpPr>
            <p:spPr bwMode="auto">
              <a:xfrm flipV="1">
                <a:off x="1866900" y="3803650"/>
                <a:ext cx="0" cy="1028700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6" name="AutoShape 44"/>
              <p:cNvCxnSpPr>
                <a:cxnSpLocks noChangeShapeType="1"/>
                <a:stCxn id="5127" idx="5"/>
                <a:endCxn id="5130" idx="1"/>
              </p:cNvCxnSpPr>
              <p:nvPr/>
            </p:nvCxnSpPr>
            <p:spPr bwMode="auto">
              <a:xfrm>
                <a:off x="2055813" y="5326063"/>
                <a:ext cx="1146175" cy="269875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7" name="AutoShape 45"/>
              <p:cNvCxnSpPr>
                <a:cxnSpLocks noChangeShapeType="1"/>
                <a:stCxn id="5130" idx="7"/>
                <a:endCxn id="5128" idx="3"/>
              </p:cNvCxnSpPr>
              <p:nvPr/>
            </p:nvCxnSpPr>
            <p:spPr bwMode="auto">
              <a:xfrm flipV="1">
                <a:off x="3579813" y="5326063"/>
                <a:ext cx="1146175" cy="269875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8" name="AutoShape 46"/>
              <p:cNvCxnSpPr>
                <a:cxnSpLocks noChangeShapeType="1"/>
                <a:stCxn id="5128" idx="0"/>
                <a:endCxn id="5125" idx="4"/>
              </p:cNvCxnSpPr>
              <p:nvPr/>
            </p:nvCxnSpPr>
            <p:spPr bwMode="auto">
              <a:xfrm flipV="1">
                <a:off x="4914900" y="3803650"/>
                <a:ext cx="0" cy="1028700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39" name="AutoShape 47"/>
              <p:cNvCxnSpPr>
                <a:cxnSpLocks noChangeShapeType="1"/>
                <a:stCxn id="5125" idx="6"/>
                <a:endCxn id="5126" idx="2"/>
              </p:cNvCxnSpPr>
              <p:nvPr/>
            </p:nvCxnSpPr>
            <p:spPr bwMode="auto">
              <a:xfrm>
                <a:off x="5200650" y="3517900"/>
                <a:ext cx="2095500" cy="0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AutoShape 48"/>
              <p:cNvCxnSpPr>
                <a:cxnSpLocks noChangeShapeType="1"/>
                <a:stCxn id="5128" idx="6"/>
                <a:endCxn id="5129" idx="2"/>
              </p:cNvCxnSpPr>
              <p:nvPr/>
            </p:nvCxnSpPr>
            <p:spPr bwMode="auto">
              <a:xfrm>
                <a:off x="5200650" y="5118100"/>
                <a:ext cx="2095500" cy="0"/>
              </a:xfrm>
              <a:prstGeom prst="straightConnector1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1" name="AutoShape 49"/>
              <p:cNvCxnSpPr>
                <a:cxnSpLocks noChangeShapeType="1"/>
                <a:stCxn id="5130" idx="0"/>
                <a:endCxn id="5124" idx="5"/>
              </p:cNvCxnSpPr>
              <p:nvPr/>
            </p:nvCxnSpPr>
            <p:spPr bwMode="auto">
              <a:xfrm rot="5400000" flipH="1">
                <a:off x="1827213" y="3954463"/>
                <a:ext cx="1792287" cy="1335087"/>
              </a:xfrm>
              <a:prstGeom prst="curvedConnector3">
                <a:avLst>
                  <a:gd name="adj1" fmla="val 47829"/>
                </a:avLst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42" name="Text Box 50"/>
              <p:cNvSpPr txBox="1">
                <a:spLocks noChangeArrowheads="1"/>
              </p:cNvSpPr>
              <p:nvPr/>
            </p:nvSpPr>
            <p:spPr bwMode="auto">
              <a:xfrm>
                <a:off x="1466850" y="4027488"/>
                <a:ext cx="438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14</a:t>
                </a:r>
              </a:p>
            </p:txBody>
          </p:sp>
          <p:sp>
            <p:nvSpPr>
              <p:cNvPr id="5143" name="Text Box 51"/>
              <p:cNvSpPr txBox="1">
                <a:spLocks noChangeArrowheads="1"/>
              </p:cNvSpPr>
              <p:nvPr/>
            </p:nvSpPr>
            <p:spPr bwMode="auto">
              <a:xfrm>
                <a:off x="2762250" y="4318000"/>
                <a:ext cx="438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5144" name="Text Box 52"/>
              <p:cNvSpPr txBox="1">
                <a:spLocks noChangeArrowheads="1"/>
              </p:cNvSpPr>
              <p:nvPr/>
            </p:nvSpPr>
            <p:spPr bwMode="auto">
              <a:xfrm>
                <a:off x="2438400" y="5384800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145" name="Text Box 53"/>
              <p:cNvSpPr txBox="1">
                <a:spLocks noChangeArrowheads="1"/>
              </p:cNvSpPr>
              <p:nvPr/>
            </p:nvSpPr>
            <p:spPr bwMode="auto">
              <a:xfrm>
                <a:off x="2438400" y="2794000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146" name="Text Box 54"/>
              <p:cNvSpPr txBox="1">
                <a:spLocks noChangeArrowheads="1"/>
              </p:cNvSpPr>
              <p:nvPr/>
            </p:nvSpPr>
            <p:spPr bwMode="auto">
              <a:xfrm>
                <a:off x="4108450" y="2794000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147" name="Text Box 55"/>
              <p:cNvSpPr txBox="1">
                <a:spLocks noChangeArrowheads="1"/>
              </p:cNvSpPr>
              <p:nvPr/>
            </p:nvSpPr>
            <p:spPr bwMode="auto">
              <a:xfrm>
                <a:off x="3200400" y="3165475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148" name="Text Box 56"/>
              <p:cNvSpPr txBox="1">
                <a:spLocks noChangeArrowheads="1"/>
              </p:cNvSpPr>
              <p:nvPr/>
            </p:nvSpPr>
            <p:spPr bwMode="auto">
              <a:xfrm>
                <a:off x="4946650" y="4073525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149" name="Text Box 57"/>
              <p:cNvSpPr txBox="1">
                <a:spLocks noChangeArrowheads="1"/>
              </p:cNvSpPr>
              <p:nvPr/>
            </p:nvSpPr>
            <p:spPr bwMode="auto">
              <a:xfrm>
                <a:off x="6089650" y="3175000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5150" name="Text Box 58"/>
              <p:cNvSpPr txBox="1">
                <a:spLocks noChangeArrowheads="1"/>
              </p:cNvSpPr>
              <p:nvPr/>
            </p:nvSpPr>
            <p:spPr bwMode="auto">
              <a:xfrm>
                <a:off x="6032500" y="4759325"/>
                <a:ext cx="438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5151" name="Text Box 59"/>
              <p:cNvSpPr txBox="1">
                <a:spLocks noChangeArrowheads="1"/>
              </p:cNvSpPr>
              <p:nvPr/>
            </p:nvSpPr>
            <p:spPr bwMode="auto">
              <a:xfrm>
                <a:off x="4025900" y="5410200"/>
                <a:ext cx="3111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291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2523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8987"/>
            <a:ext cx="7772400" cy="1362075"/>
          </a:xfrm>
        </p:spPr>
        <p:txBody>
          <a:bodyPr/>
          <a:lstStyle/>
          <a:p>
            <a:pPr algn="ctr"/>
            <a:r>
              <a:rPr lang="en-US" dirty="0" err="1" smtClean="0">
                <a:latin typeface="Lucida Sans Typewriter" pitchFamily="49" charset="0"/>
              </a:rPr>
              <a:t>Dijkstra’s</a:t>
            </a:r>
            <a:r>
              <a:rPr lang="en-US" dirty="0" smtClean="0">
                <a:latin typeface="Lucida Sans Typewriter" pitchFamily="49" charset="0"/>
              </a:rPr>
              <a:t> Algorithm</a:t>
            </a:r>
            <a:endParaRPr lang="en-US" dirty="0">
              <a:latin typeface="Lucida Sans Typewriter" pitchFamily="49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7772400" cy="150018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Lucida Sans Typewriter" pitchFamily="49" charset="0"/>
              </a:rPr>
              <a:t>Shortest Path Problems</a:t>
            </a:r>
            <a:endParaRPr lang="en-US" sz="4000" dirty="0">
              <a:latin typeface="Lucida Sans Typewrit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7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>
                <a:latin typeface="Lucida Sans Typewriter" pitchFamily="49" charset="0"/>
              </a:rPr>
              <a:t>Single-Source Shortest Path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3211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>
                <a:latin typeface="Lucida Sans Typewriter" pitchFamily="49" charset="0"/>
              </a:rPr>
              <a:t>Given a graph (directed or undirected) </a:t>
            </a:r>
            <a:r>
              <a:rPr lang="en-US" altLang="en-US" sz="2000" i="1" dirty="0">
                <a:latin typeface="Lucida Sans Typewriter" pitchFamily="49" charset="0"/>
              </a:rPr>
              <a:t>G</a:t>
            </a:r>
            <a:r>
              <a:rPr lang="en-US" altLang="en-US" sz="2000" dirty="0">
                <a:latin typeface="Lucida Sans Typewriter" pitchFamily="49" charset="0"/>
              </a:rPr>
              <a:t> = (</a:t>
            </a:r>
            <a:r>
              <a:rPr lang="en-US" altLang="en-US" sz="2000" i="1" dirty="0">
                <a:latin typeface="Lucida Sans Typewriter" pitchFamily="49" charset="0"/>
              </a:rPr>
              <a:t>V, E</a:t>
            </a:r>
            <a:r>
              <a:rPr lang="en-US" altLang="en-US" sz="2000" dirty="0">
                <a:latin typeface="Lucida Sans Typewriter" pitchFamily="49" charset="0"/>
              </a:rPr>
              <a:t>) with weight function </a:t>
            </a:r>
            <a:r>
              <a:rPr lang="en-US" altLang="en-US" sz="2000" i="1" dirty="0">
                <a:latin typeface="Lucida Sans Typewriter" pitchFamily="49" charset="0"/>
              </a:rPr>
              <a:t>w</a:t>
            </a:r>
            <a:r>
              <a:rPr lang="en-US" altLang="en-US" sz="2000" dirty="0">
                <a:latin typeface="Lucida Sans Typewriter" pitchFamily="49" charset="0"/>
              </a:rPr>
              <a:t>: </a:t>
            </a:r>
            <a:r>
              <a:rPr lang="en-US" altLang="en-US" sz="2000" i="1" dirty="0">
                <a:latin typeface="Lucida Sans Typewriter" pitchFamily="49" charset="0"/>
              </a:rPr>
              <a:t>E</a:t>
            </a:r>
            <a:r>
              <a:rPr lang="en-US" altLang="en-US" sz="2000" dirty="0">
                <a:latin typeface="Lucida Sans Typewriter" pitchFamily="49" charset="0"/>
              </a:rPr>
              <a:t> </a:t>
            </a:r>
            <a:r>
              <a:rPr lang="en-US" altLang="en-US" sz="2000" dirty="0">
                <a:latin typeface="Lucida Sans Typewriter" pitchFamily="49" charset="0"/>
                <a:sym typeface="Symbol" panose="05050102010706020507" pitchFamily="18" charset="2"/>
              </a:rPr>
              <a:t> </a:t>
            </a:r>
            <a:r>
              <a:rPr lang="en-US" altLang="en-US" sz="2000" b="1" dirty="0">
                <a:latin typeface="Lucida Sans Typewriter" pitchFamily="49" charset="0"/>
              </a:rPr>
              <a:t>R</a:t>
            </a:r>
            <a:r>
              <a:rPr lang="en-US" altLang="en-US" sz="2000" dirty="0">
                <a:latin typeface="Lucida Sans Typewriter" pitchFamily="49" charset="0"/>
              </a:rPr>
              <a:t> and a vertex </a:t>
            </a:r>
            <a:r>
              <a:rPr lang="en-US" altLang="en-US" sz="2000" i="1" dirty="0" err="1">
                <a:latin typeface="Lucida Sans Typewriter" pitchFamily="49" charset="0"/>
              </a:rPr>
              <a:t>s</a:t>
            </a:r>
            <a:r>
              <a:rPr lang="en-US" altLang="en-US" sz="2000" dirty="0" err="1">
                <a:latin typeface="Lucida Sans Typewriter" pitchFamily="49" charset="0"/>
                <a:sym typeface="Symbol" panose="05050102010706020507" pitchFamily="18" charset="2"/>
              </a:rPr>
              <a:t></a:t>
            </a:r>
            <a:r>
              <a:rPr lang="en-US" altLang="en-US" sz="2000" i="1" dirty="0" err="1">
                <a:latin typeface="Lucida Sans Typewriter" pitchFamily="49" charset="0"/>
              </a:rPr>
              <a:t>V</a:t>
            </a:r>
            <a:r>
              <a:rPr lang="en-US" altLang="en-US" sz="2000" dirty="0">
                <a:latin typeface="Lucida Sans Typewriter" pitchFamily="49" charset="0"/>
              </a:rPr>
              <a:t>, find for all vertices </a:t>
            </a:r>
            <a:r>
              <a:rPr lang="en-US" altLang="en-US" sz="2000" i="1" dirty="0" err="1">
                <a:latin typeface="Lucida Sans Typewriter" pitchFamily="49" charset="0"/>
              </a:rPr>
              <a:t>v</a:t>
            </a:r>
            <a:r>
              <a:rPr lang="en-US" altLang="en-US" sz="2000" dirty="0" err="1">
                <a:latin typeface="Lucida Sans Typewriter" pitchFamily="49" charset="0"/>
                <a:sym typeface="Symbol" panose="05050102010706020507" pitchFamily="18" charset="2"/>
              </a:rPr>
              <a:t></a:t>
            </a:r>
            <a:r>
              <a:rPr lang="en-US" altLang="en-US" sz="2000" i="1" dirty="0" err="1">
                <a:latin typeface="Lucida Sans Typewriter" pitchFamily="49" charset="0"/>
              </a:rPr>
              <a:t>V</a:t>
            </a:r>
            <a:r>
              <a:rPr lang="en-US" altLang="en-US" sz="2000" dirty="0">
                <a:latin typeface="Lucida Sans Typewriter" pitchFamily="49" charset="0"/>
              </a:rPr>
              <a:t> the minimum possible weight for path from </a:t>
            </a:r>
            <a:r>
              <a:rPr lang="en-US" altLang="en-US" sz="2000" i="1" dirty="0">
                <a:latin typeface="Lucida Sans Typewriter" pitchFamily="49" charset="0"/>
              </a:rPr>
              <a:t>s</a:t>
            </a:r>
            <a:r>
              <a:rPr lang="en-US" altLang="en-US" sz="2000" dirty="0">
                <a:latin typeface="Lucida Sans Typewriter" pitchFamily="49" charset="0"/>
              </a:rPr>
              <a:t> to </a:t>
            </a:r>
            <a:r>
              <a:rPr lang="en-US" altLang="en-US" sz="2000" i="1" dirty="0">
                <a:latin typeface="Lucida Sans Typewriter" pitchFamily="49" charset="0"/>
              </a:rPr>
              <a:t>v</a:t>
            </a:r>
            <a:r>
              <a:rPr lang="en-US" altLang="en-US" sz="2000" dirty="0">
                <a:latin typeface="Lucida Sans Typewriter" pitchFamily="49" charset="0"/>
              </a:rPr>
              <a:t>. </a:t>
            </a:r>
          </a:p>
          <a:p>
            <a:pPr eaLnBrk="1" hangingPunct="1"/>
            <a:endParaRPr lang="en-US" altLang="en-US" sz="2800" dirty="0">
              <a:latin typeface="Lucida Sans Typewriter" pitchFamily="49" charset="0"/>
            </a:endParaRPr>
          </a:p>
          <a:p>
            <a:pPr eaLnBrk="1" hangingPunct="1"/>
            <a:r>
              <a:rPr lang="en-US" altLang="en-US" sz="2000" dirty="0">
                <a:latin typeface="Lucida Sans Typewriter" pitchFamily="49" charset="0"/>
              </a:rPr>
              <a:t>We will discuss two general case algorithms:</a:t>
            </a:r>
          </a:p>
          <a:p>
            <a:pPr lvl="1" eaLnBrk="1" hangingPunct="1"/>
            <a:r>
              <a:rPr lang="en-US" altLang="en-US" sz="1800" b="1" dirty="0">
                <a:latin typeface="Lucida Sans Typewriter" pitchFamily="49" charset="0"/>
              </a:rPr>
              <a:t>Dijkstra's Algorithm</a:t>
            </a:r>
            <a:r>
              <a:rPr lang="en-US" altLang="en-US" sz="1800" dirty="0">
                <a:latin typeface="Lucida Sans Typewriter" pitchFamily="49" charset="0"/>
              </a:rPr>
              <a:t> (positive edge weights only)</a:t>
            </a:r>
          </a:p>
          <a:p>
            <a:pPr lvl="1" eaLnBrk="1" hangingPunct="1"/>
            <a:r>
              <a:rPr lang="en-US" altLang="en-US" sz="1800" b="1" dirty="0">
                <a:latin typeface="Lucida Sans Typewriter" pitchFamily="49" charset="0"/>
              </a:rPr>
              <a:t>Bellman-Ford Algorithm</a:t>
            </a:r>
            <a:r>
              <a:rPr lang="en-US" altLang="en-US" sz="1800" dirty="0">
                <a:latin typeface="Lucida Sans Typewriter" pitchFamily="49" charset="0"/>
              </a:rPr>
              <a:t> (positive and negative edge weights)</a:t>
            </a:r>
            <a:endParaRPr lang="en-US" altLang="en-US" sz="2400" dirty="0">
              <a:latin typeface="Lucida Sans Typewriter" pitchFamily="49" charset="0"/>
            </a:endParaRPr>
          </a:p>
          <a:p>
            <a:pPr eaLnBrk="1" hangingPunct="1"/>
            <a:r>
              <a:rPr lang="en-US" altLang="en-US" sz="2000" dirty="0">
                <a:latin typeface="Lucida Sans Typewriter" pitchFamily="49" charset="0"/>
              </a:rPr>
              <a:t>If all edge weights are equal (let's say 1), the problem is solved by BFS in </a:t>
            </a:r>
            <a:r>
              <a:rPr lang="en-US" altLang="en-US" sz="2000" dirty="0">
                <a:latin typeface="Lucida Sans Typewriter" pitchFamily="49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Lucida Sans Typewriter" pitchFamily="49" charset="0"/>
              </a:rPr>
              <a:t>(</a:t>
            </a:r>
            <a:r>
              <a:rPr lang="en-US" altLang="en-US" sz="2000" i="1" dirty="0">
                <a:latin typeface="Lucida Sans Typewriter" pitchFamily="49" charset="0"/>
              </a:rPr>
              <a:t>V </a:t>
            </a:r>
            <a:r>
              <a:rPr lang="en-US" altLang="en-US" sz="2000" dirty="0">
                <a:latin typeface="Lucida Sans Typewriter" pitchFamily="49" charset="0"/>
              </a:rPr>
              <a:t>+ </a:t>
            </a:r>
            <a:r>
              <a:rPr lang="en-US" altLang="en-US" sz="2000" i="1" dirty="0">
                <a:latin typeface="Lucida Sans Typewriter" pitchFamily="49" charset="0"/>
              </a:rPr>
              <a:t>E</a:t>
            </a:r>
            <a:r>
              <a:rPr lang="en-US" altLang="en-US" sz="2000" dirty="0">
                <a:latin typeface="Lucida Sans Typewriter" pitchFamily="49" charset="0"/>
              </a:rPr>
              <a:t>) time.</a:t>
            </a:r>
          </a:p>
        </p:txBody>
      </p:sp>
    </p:spTree>
    <p:extLst>
      <p:ext uri="{BB962C8B-B14F-4D97-AF65-F5344CB8AC3E}">
        <p14:creationId xmlns:p14="http://schemas.microsoft.com/office/powerpoint/2010/main" val="332755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 err="1" smtClean="0">
                <a:latin typeface="Lucida Sans Typewriter" pitchFamily="49" charset="0"/>
              </a:rPr>
              <a:t>Dijkstra’s</a:t>
            </a:r>
            <a:r>
              <a:rPr lang="en-US" sz="3600" b="1" dirty="0" smtClean="0">
                <a:latin typeface="Lucida Sans Typewriter" pitchFamily="49" charset="0"/>
              </a:rPr>
              <a:t> Algorithm</a:t>
            </a:r>
            <a:endParaRPr lang="en-US" sz="3600" b="1" dirty="0">
              <a:latin typeface="Lucida Sans Typewriter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E5F98C5-D872-49D6-BBCA-A6A0E22A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534309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3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 smtClean="0">
                <a:latin typeface="Lucida Sans Typewriter" pitchFamily="49" charset="0"/>
              </a:rPr>
              <a:t>Bellman-Ford Algorithm</a:t>
            </a:r>
            <a:endParaRPr lang="en-US" sz="3600" b="1" dirty="0">
              <a:latin typeface="Lucida Sans Typewriter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219200"/>
            <a:ext cx="7696200" cy="457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 err="1" smtClean="0">
                <a:latin typeface="Lucida Sans Typewriter" pitchFamily="49" charset="0"/>
              </a:rPr>
              <a:t>BellmanFord</a:t>
            </a:r>
            <a:r>
              <a:rPr lang="en-US" altLang="en-US" sz="2400" b="1" dirty="0" smtClean="0">
                <a:latin typeface="Lucida Sans Typewriter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</a:rPr>
              <a:t>1   for each v 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 V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2      d[v] = ;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3   d[s] = 0;</a:t>
            </a:r>
          </a:p>
          <a:p>
            <a:pPr>
              <a:lnSpc>
                <a:spcPct val="90000"/>
              </a:lnSpc>
            </a:pPr>
            <a:endParaRPr lang="en-US" altLang="en-US" sz="2000" dirty="0" smtClean="0">
              <a:latin typeface="Lucida Sans Typewriter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4   for i=1 to |V|-1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5      for each edge 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  E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6         Relax(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u,v,w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);</a:t>
            </a:r>
          </a:p>
          <a:p>
            <a:pPr>
              <a:lnSpc>
                <a:spcPct val="90000"/>
              </a:lnSpc>
            </a:pPr>
            <a:endParaRPr lang="en-US" altLang="en-US" sz="2000" dirty="0" smtClean="0">
              <a:latin typeface="Lucida Sans Typewriter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7   for each edge 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  E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8      if (d[v] &gt; d[u] + w(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9           return “no solution”;</a:t>
            </a:r>
          </a:p>
          <a:p>
            <a:pPr>
              <a:lnSpc>
                <a:spcPct val="90000"/>
              </a:lnSpc>
            </a:pPr>
            <a:endParaRPr lang="en-US" altLang="en-US" sz="2000" dirty="0" smtClean="0">
              <a:latin typeface="Lucida Sans Typewriter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sz="2000" dirty="0" smtClean="0">
              <a:latin typeface="Lucida Sans Typewriter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Relax(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u,v,w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): if (d[v] &gt; d[u]+w(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)) </a:t>
            </a:r>
          </a:p>
          <a:p>
            <a:pPr>
              <a:lnSpc>
                <a:spcPct val="90000"/>
              </a:lnSpc>
            </a:pP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                 then d[v]=d[u]+w(</a:t>
            </a:r>
            <a:r>
              <a:rPr lang="en-US" altLang="en-US" sz="2000" dirty="0" err="1" smtClean="0">
                <a:latin typeface="Lucida Sans Typewriter" pitchFamily="49" charset="0"/>
                <a:sym typeface="Symbol" panose="05050102010706020507" pitchFamily="18" charset="2"/>
              </a:rPr>
              <a:t>u,v</a:t>
            </a:r>
            <a:r>
              <a:rPr lang="en-US" altLang="en-US" sz="2000" dirty="0" smtClean="0">
                <a:latin typeface="Lucida Sans Typewriter" pitchFamily="49" charset="0"/>
                <a:sym typeface="Symbol" panose="05050102010706020507" pitchFamily="18" charset="2"/>
              </a:rPr>
              <a:t>)</a:t>
            </a:r>
            <a:endParaRPr lang="en-US" altLang="en-US" sz="2000" dirty="0">
              <a:latin typeface="Lucida Sans Typewriter" pitchFamily="49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0455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341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Minimum Spanning Tree Shortest Path Problems </vt:lpstr>
      <vt:lpstr>Prim’s Algorithm</vt:lpstr>
      <vt:lpstr>Spanning Tree</vt:lpstr>
      <vt:lpstr>Spanning Tree of a Graph</vt:lpstr>
      <vt:lpstr>Spanning Tree of a Graph</vt:lpstr>
      <vt:lpstr>Minimum Spanning Tree of a Graph</vt:lpstr>
      <vt:lpstr>Minimum Spanning Tree</vt:lpstr>
      <vt:lpstr>Prim’s Algorithm</vt:lpstr>
      <vt:lpstr>Dijkstra’s Algorithm</vt:lpstr>
      <vt:lpstr>Single-Source Shortest Path</vt:lpstr>
      <vt:lpstr>Dijkstra’s Algorithm</vt:lpstr>
      <vt:lpstr>Bellman-Ford Algorithm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 Shortest Path </dc:title>
  <dc:creator>Ms. Umama Rahman</dc:creator>
  <cp:lastModifiedBy>Ms. Umama Rahman</cp:lastModifiedBy>
  <cp:revision>16</cp:revision>
  <dcterms:created xsi:type="dcterms:W3CDTF">2024-09-08T07:05:04Z</dcterms:created>
  <dcterms:modified xsi:type="dcterms:W3CDTF">2024-09-08T07:14:26Z</dcterms:modified>
</cp:coreProperties>
</file>